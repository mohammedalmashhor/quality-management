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8" r:id="rId2"/>
    <p:sldId id="271" r:id="rId3"/>
    <p:sldId id="272" r:id="rId4"/>
    <p:sldId id="274" r:id="rId5"/>
    <p:sldId id="273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1AC"/>
    <a:srgbClr val="0762C8"/>
    <a:srgbClr val="FFFFFF"/>
    <a:srgbClr val="00B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68E27D-76D6-45F5-917F-7A6E7F20474C}" v="4" dt="2025-03-26T21:44:05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23" y="2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Ulewicz" userId="f6d48e8a53d1daea" providerId="LiveId" clId="{A768E27D-76D6-45F5-917F-7A6E7F20474C}"/>
    <pc:docChg chg="custSel addSld modSld sldOrd">
      <pc:chgData name="Robert Ulewicz" userId="f6d48e8a53d1daea" providerId="LiveId" clId="{A768E27D-76D6-45F5-917F-7A6E7F20474C}" dt="2025-03-26T21:53:16.145" v="114" actId="680"/>
      <pc:docMkLst>
        <pc:docMk/>
      </pc:docMkLst>
      <pc:sldChg chg="addSp modSp mod">
        <pc:chgData name="Robert Ulewicz" userId="f6d48e8a53d1daea" providerId="LiveId" clId="{A768E27D-76D6-45F5-917F-7A6E7F20474C}" dt="2025-03-26T21:40:55.194" v="4" actId="1076"/>
        <pc:sldMkLst>
          <pc:docMk/>
          <pc:sldMk cId="2090348035" sldId="273"/>
        </pc:sldMkLst>
        <pc:spChg chg="add mod">
          <ac:chgData name="Robert Ulewicz" userId="f6d48e8a53d1daea" providerId="LiveId" clId="{A768E27D-76D6-45F5-917F-7A6E7F20474C}" dt="2025-03-26T21:40:55.194" v="4" actId="1076"/>
          <ac:spMkLst>
            <pc:docMk/>
            <pc:sldMk cId="2090348035" sldId="273"/>
            <ac:spMk id="4" creationId="{EF580F44-BFAC-B4F3-3082-B8AE53F52729}"/>
          </ac:spMkLst>
        </pc:spChg>
      </pc:sldChg>
      <pc:sldChg chg="addSp delSp modSp add mod ord">
        <pc:chgData name="Robert Ulewicz" userId="f6d48e8a53d1daea" providerId="LiveId" clId="{A768E27D-76D6-45F5-917F-7A6E7F20474C}" dt="2025-03-26T21:42:51.434" v="20" actId="113"/>
        <pc:sldMkLst>
          <pc:docMk/>
          <pc:sldMk cId="4269785148" sldId="274"/>
        </pc:sldMkLst>
        <pc:spChg chg="del">
          <ac:chgData name="Robert Ulewicz" userId="f6d48e8a53d1daea" providerId="LiveId" clId="{A768E27D-76D6-45F5-917F-7A6E7F20474C}" dt="2025-03-26T21:41:21.872" v="6" actId="478"/>
          <ac:spMkLst>
            <pc:docMk/>
            <pc:sldMk cId="4269785148" sldId="274"/>
            <ac:spMk id="4" creationId="{498B7700-D594-BA29-2575-D274C77BAB9A}"/>
          </ac:spMkLst>
        </pc:spChg>
        <pc:spChg chg="add del mod">
          <ac:chgData name="Robert Ulewicz" userId="f6d48e8a53d1daea" providerId="LiveId" clId="{A768E27D-76D6-45F5-917F-7A6E7F20474C}" dt="2025-03-26T21:42:21.683" v="13" actId="478"/>
          <ac:spMkLst>
            <pc:docMk/>
            <pc:sldMk cId="4269785148" sldId="274"/>
            <ac:spMk id="5" creationId="{BB461831-BB68-8CAE-25CA-1AEA4FC5995A}"/>
          </ac:spMkLst>
        </pc:spChg>
        <pc:graphicFrameChg chg="add mod modGraphic">
          <ac:chgData name="Robert Ulewicz" userId="f6d48e8a53d1daea" providerId="LiveId" clId="{A768E27D-76D6-45F5-917F-7A6E7F20474C}" dt="2025-03-26T21:42:51.434" v="20" actId="113"/>
          <ac:graphicFrameMkLst>
            <pc:docMk/>
            <pc:sldMk cId="4269785148" sldId="274"/>
            <ac:graphicFrameMk id="2" creationId="{B950BE19-EFD0-31F4-B7AF-DB3DE5450D5C}"/>
          </ac:graphicFrameMkLst>
        </pc:graphicFrameChg>
      </pc:sldChg>
      <pc:sldChg chg="addSp modSp add mod">
        <pc:chgData name="Robert Ulewicz" userId="f6d48e8a53d1daea" providerId="LiveId" clId="{A768E27D-76D6-45F5-917F-7A6E7F20474C}" dt="2025-03-26T21:44:47.039" v="113" actId="1038"/>
        <pc:sldMkLst>
          <pc:docMk/>
          <pc:sldMk cId="2267427645" sldId="275"/>
        </pc:sldMkLst>
        <pc:picChg chg="add mod">
          <ac:chgData name="Robert Ulewicz" userId="f6d48e8a53d1daea" providerId="LiveId" clId="{A768E27D-76D6-45F5-917F-7A6E7F20474C}" dt="2025-03-26T21:44:24.171" v="51" actId="1038"/>
          <ac:picMkLst>
            <pc:docMk/>
            <pc:sldMk cId="2267427645" sldId="275"/>
            <ac:picMk id="2" creationId="{E5330F3F-6BD7-8405-6B93-790FA23DF57C}"/>
          </ac:picMkLst>
        </pc:picChg>
        <pc:picChg chg="mod">
          <ac:chgData name="Robert Ulewicz" userId="f6d48e8a53d1daea" providerId="LiveId" clId="{A768E27D-76D6-45F5-917F-7A6E7F20474C}" dt="2025-03-26T21:44:19.129" v="27" actId="1076"/>
          <ac:picMkLst>
            <pc:docMk/>
            <pc:sldMk cId="2267427645" sldId="275"/>
            <ac:picMk id="3" creationId="{B713D10C-05DC-E204-158F-8BAF265BEF63}"/>
          </ac:picMkLst>
        </pc:picChg>
        <pc:picChg chg="add mod">
          <ac:chgData name="Robert Ulewicz" userId="f6d48e8a53d1daea" providerId="LiveId" clId="{A768E27D-76D6-45F5-917F-7A6E7F20474C}" dt="2025-03-26T21:44:47.039" v="113" actId="1038"/>
          <ac:picMkLst>
            <pc:docMk/>
            <pc:sldMk cId="2267427645" sldId="275"/>
            <ac:picMk id="4" creationId="{E8AFB831-1996-8F1D-8E98-C65C56775EDE}"/>
          </ac:picMkLst>
        </pc:picChg>
      </pc:sldChg>
      <pc:sldChg chg="new">
        <pc:chgData name="Robert Ulewicz" userId="f6d48e8a53d1daea" providerId="LiveId" clId="{A768E27D-76D6-45F5-917F-7A6E7F20474C}" dt="2025-03-26T21:53:16.145" v="114" actId="680"/>
        <pc:sldMkLst>
          <pc:docMk/>
          <pc:sldMk cId="359665527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09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8835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956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698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9843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688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309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4830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18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9881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829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F6CC7-819D-47C7-A3DC-1D33DF1F1FEB}" type="datetimeFigureOut">
              <a:rPr lang="pl-PL" smtClean="0"/>
              <a:pPr/>
              <a:t>2025-03-26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23314-F29F-451B-9A22-A6E37801EE1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151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/>
          <p:cNvSpPr/>
          <p:nvPr/>
        </p:nvSpPr>
        <p:spPr>
          <a:xfrm>
            <a:off x="1" y="2194558"/>
            <a:ext cx="12192000" cy="4663439"/>
          </a:xfrm>
          <a:prstGeom prst="rect">
            <a:avLst/>
          </a:prstGeom>
          <a:solidFill>
            <a:srgbClr val="196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solidFill>
                <a:srgbClr val="0762C8"/>
              </a:solidFill>
            </a:endParaRPr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56A6F829-062C-40A5-9221-EF428FBEE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560320"/>
            <a:ext cx="9047180" cy="4297679"/>
          </a:xfrm>
        </p:spPr>
        <p:txBody>
          <a:bodyPr>
            <a:noAutofit/>
          </a:bodyPr>
          <a:lstStyle/>
          <a:p>
            <a:pPr algn="ctr"/>
            <a:r>
              <a:rPr lang="pl-PL" sz="4400" b="1" dirty="0">
                <a:solidFill>
                  <a:schemeClr val="bg1"/>
                </a:solidFill>
              </a:rPr>
              <a:t>Quality management</a:t>
            </a:r>
            <a:br>
              <a:rPr lang="pl-PL" sz="4400" b="1" dirty="0">
                <a:solidFill>
                  <a:schemeClr val="bg1"/>
                </a:solidFill>
              </a:rPr>
            </a:br>
            <a:br>
              <a:rPr lang="pl-PL" sz="4400" b="1" dirty="0">
                <a:solidFill>
                  <a:schemeClr val="bg1"/>
                </a:solidFill>
              </a:rPr>
            </a:br>
            <a:r>
              <a:rPr lang="pl-PL" sz="3600" b="0" i="0" dirty="0">
                <a:solidFill>
                  <a:schemeClr val="bg1"/>
                </a:solidFill>
                <a:effectLst/>
                <a:latin typeface="+mn-lt"/>
              </a:rPr>
              <a:t>THE SHEWHART CONTROL CARDS </a:t>
            </a:r>
            <a:endParaRPr lang="pl-PL" dirty="0">
              <a:solidFill>
                <a:schemeClr val="bg1"/>
              </a:solidFill>
              <a:latin typeface="+mn-lt"/>
              <a:ea typeface="Roboto" pitchFamily="2" charset="0"/>
            </a:endParaRPr>
          </a:p>
        </p:txBody>
      </p:sp>
      <p:pic>
        <p:nvPicPr>
          <p:cNvPr id="5" name="Obraz 4" descr="PCz_wydział_wz_poziom_negatyw.png"/>
          <p:cNvPicPr>
            <a:picLocks noChangeAspect="1"/>
          </p:cNvPicPr>
          <p:nvPr/>
        </p:nvPicPr>
        <p:blipFill>
          <a:blip r:embed="rId2" cstate="print"/>
          <a:srcRect l="34608" r="49523"/>
          <a:stretch>
            <a:fillRect/>
          </a:stretch>
        </p:blipFill>
        <p:spPr>
          <a:xfrm>
            <a:off x="9993597" y="1863780"/>
            <a:ext cx="2420727" cy="5324997"/>
          </a:xfrm>
          <a:prstGeom prst="rect">
            <a:avLst/>
          </a:prstGeom>
        </p:spPr>
      </p:pic>
      <p:pic>
        <p:nvPicPr>
          <p:cNvPr id="6" name="Obraz 5" descr="PCz_logo+wydział_wz_poziom_kolo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1064" y="260819"/>
            <a:ext cx="10951211" cy="177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6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78F0E869-1923-4545-9ED0-6AE939505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500" y="1058332"/>
            <a:ext cx="10879567" cy="5520267"/>
          </a:xfrm>
        </p:spPr>
        <p:txBody>
          <a:bodyPr anchor="t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l-PL" sz="20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E84F842-CD99-D376-C26A-895184367263}"/>
              </a:ext>
            </a:extLst>
          </p:cNvPr>
          <p:cNvSpPr txBox="1"/>
          <p:nvPr/>
        </p:nvSpPr>
        <p:spPr>
          <a:xfrm>
            <a:off x="813002" y="1110343"/>
            <a:ext cx="10879566" cy="1453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  <a:buNone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 for the Exercise:</a:t>
            </a:r>
            <a:endParaRPr lang="pl-PL" sz="1800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a production process, 10 samples were taken. Each sample contains 5 measurements of a quality characteristic (e.g., part length in mm):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pl-PL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B3233A5-F6E6-963E-2F4D-A33A57BEE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002553"/>
              </p:ext>
            </p:extLst>
          </p:nvPr>
        </p:nvGraphicFramePr>
        <p:xfrm>
          <a:off x="1164771" y="2324100"/>
          <a:ext cx="9840688" cy="37229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0086">
                  <a:extLst>
                    <a:ext uri="{9D8B030D-6E8A-4147-A177-3AD203B41FA5}">
                      <a16:colId xmlns:a16="http://schemas.microsoft.com/office/drawing/2014/main" val="489046349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4158530521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069536493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331999894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1444058345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296231070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732740215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1872513952"/>
                    </a:ext>
                  </a:extLst>
                </a:gridCol>
              </a:tblGrid>
              <a:tr h="638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Sample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Measure 1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Measure 2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Measure 3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Measure 4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Measure 5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Mean (X̄)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Range (R)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1541097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1.0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10.1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10.4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258672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2.0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10.1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10.4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0261678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3.0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10.4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10.5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1536381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4.0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10.1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10.4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5418219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5.0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10.4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10.5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7617180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6.0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10.0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10.1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10.1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10.0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813494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7.0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10.1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10.1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4099571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8.0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10.4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2118891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9.0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10.4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10.5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10.4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10.6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8266899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10.0</a:t>
                      </a: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10.3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10.2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10.1</a:t>
                      </a:r>
                      <a:endParaRPr lang="pl-PL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 dirty="0">
                          <a:effectLst/>
                        </a:rPr>
                        <a:t>10.2</a:t>
                      </a:r>
                      <a:endParaRPr lang="pl-PL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pl-PL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858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997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2B26-4CCF-BA94-A940-E0EF88253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536245F9-AED7-B445-6ECB-58AE1A43E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41513"/>
            <a:ext cx="12192001" cy="6858001"/>
          </a:xfrm>
          <a:prstGeom prst="rect">
            <a:avLst/>
          </a:prstGeom>
        </p:spPr>
      </p:pic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58827B56-BEA9-2C3E-EEF6-30247C050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500" y="1058332"/>
            <a:ext cx="10879567" cy="5520267"/>
          </a:xfrm>
        </p:spPr>
        <p:txBody>
          <a:bodyPr anchor="t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l-PL" sz="20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C48EFB2-D9EE-D94E-D341-A1F9D8B5E36A}"/>
              </a:ext>
            </a:extLst>
          </p:cNvPr>
          <p:cNvSpPr txBox="1"/>
          <p:nvPr/>
        </p:nvSpPr>
        <p:spPr>
          <a:xfrm>
            <a:off x="446316" y="930728"/>
            <a:ext cx="5491842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 each sample, calculate:</a:t>
            </a:r>
            <a:endParaRPr lang="pl-PL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sample mean (X̄)</a:t>
            </a:r>
            <a:endParaRPr lang="pl-PL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range (R) = maximum value − minimum value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Calculate overall statistics: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Average of all sample means → X̄̄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Average of all sample ranges → R̄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Use the following control chart constants for n = 5: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- A₂ = 0.577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- D₃ = 0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- D₄ = 2.115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pl-PL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A5C16ED-DD71-1069-3B47-C98C56D349AB}"/>
              </a:ext>
            </a:extLst>
          </p:cNvPr>
          <p:cNvSpPr txBox="1"/>
          <p:nvPr/>
        </p:nvSpPr>
        <p:spPr>
          <a:xfrm>
            <a:off x="5800346" y="1086613"/>
            <a:ext cx="5439784" cy="5912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4. Calculate control limits: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 the X̄ chart:</a:t>
            </a:r>
            <a:endParaRPr lang="pl-PL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- UCL = X̄̄ + A₂ × R̄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- CL = X̄̄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LCL = X̄̄ − A₂ × R̄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For the R chart: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UCL = D₄ × R̄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- CL = R̄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- LCL = D₃ × R̄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Plot two control charts: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- One for sample means (X̄ chart)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- One for sample ranges (R chart)</a:t>
            </a:r>
            <a:endParaRPr lang="pl-PL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6.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Interpret the charts:</a:t>
            </a:r>
            <a:endParaRPr lang="pl-PL" sz="18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- Is the process statistically controlled?</a:t>
            </a:r>
            <a:endParaRPr lang="pl-PL" sz="18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- Are there any points outside the control limits?</a:t>
            </a:r>
            <a:endParaRPr lang="pl-PL" sz="18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- Do you observe any unusual patterns (e.g., trends, cycles)?</a:t>
            </a:r>
            <a:endParaRPr lang="pl-PL" sz="18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9588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A60A4-29D0-0AAF-61A3-A738959E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975EDF69-12C5-99D2-CE43-7F4FA21EC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2FDB28FB-3A78-7E34-C97D-6C186201D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500" y="1058332"/>
            <a:ext cx="10879567" cy="5520267"/>
          </a:xfrm>
        </p:spPr>
        <p:txBody>
          <a:bodyPr anchor="t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l-PL" sz="20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950BE19-EFD0-31F4-B7AF-DB3DE5450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701896"/>
              </p:ext>
            </p:extLst>
          </p:nvPr>
        </p:nvGraphicFramePr>
        <p:xfrm>
          <a:off x="905933" y="1251769"/>
          <a:ext cx="10180424" cy="4802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2553">
                  <a:extLst>
                    <a:ext uri="{9D8B030D-6E8A-4147-A177-3AD203B41FA5}">
                      <a16:colId xmlns:a16="http://schemas.microsoft.com/office/drawing/2014/main" val="2145012216"/>
                    </a:ext>
                  </a:extLst>
                </a:gridCol>
                <a:gridCol w="1272553">
                  <a:extLst>
                    <a:ext uri="{9D8B030D-6E8A-4147-A177-3AD203B41FA5}">
                      <a16:colId xmlns:a16="http://schemas.microsoft.com/office/drawing/2014/main" val="3478513413"/>
                    </a:ext>
                  </a:extLst>
                </a:gridCol>
                <a:gridCol w="1272553">
                  <a:extLst>
                    <a:ext uri="{9D8B030D-6E8A-4147-A177-3AD203B41FA5}">
                      <a16:colId xmlns:a16="http://schemas.microsoft.com/office/drawing/2014/main" val="1226953592"/>
                    </a:ext>
                  </a:extLst>
                </a:gridCol>
                <a:gridCol w="1272553">
                  <a:extLst>
                    <a:ext uri="{9D8B030D-6E8A-4147-A177-3AD203B41FA5}">
                      <a16:colId xmlns:a16="http://schemas.microsoft.com/office/drawing/2014/main" val="1604730234"/>
                    </a:ext>
                  </a:extLst>
                </a:gridCol>
                <a:gridCol w="1272553">
                  <a:extLst>
                    <a:ext uri="{9D8B030D-6E8A-4147-A177-3AD203B41FA5}">
                      <a16:colId xmlns:a16="http://schemas.microsoft.com/office/drawing/2014/main" val="2263362671"/>
                    </a:ext>
                  </a:extLst>
                </a:gridCol>
                <a:gridCol w="1272553">
                  <a:extLst>
                    <a:ext uri="{9D8B030D-6E8A-4147-A177-3AD203B41FA5}">
                      <a16:colId xmlns:a16="http://schemas.microsoft.com/office/drawing/2014/main" val="1630426772"/>
                    </a:ext>
                  </a:extLst>
                </a:gridCol>
                <a:gridCol w="1272553">
                  <a:extLst>
                    <a:ext uri="{9D8B030D-6E8A-4147-A177-3AD203B41FA5}">
                      <a16:colId xmlns:a16="http://schemas.microsoft.com/office/drawing/2014/main" val="199333654"/>
                    </a:ext>
                  </a:extLst>
                </a:gridCol>
                <a:gridCol w="1272553">
                  <a:extLst>
                    <a:ext uri="{9D8B030D-6E8A-4147-A177-3AD203B41FA5}">
                      <a16:colId xmlns:a16="http://schemas.microsoft.com/office/drawing/2014/main" val="2636890721"/>
                    </a:ext>
                  </a:extLst>
                </a:gridCol>
              </a:tblGrid>
              <a:tr h="823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Sample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Measure 1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Measure 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Measure 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Measure 4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Measure 5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Mean (X̄)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Range (R)</a:t>
                      </a:r>
                      <a:endParaRPr lang="pl-PL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4314607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10,1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10,4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10,24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0,30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0156354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10,1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10,4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10,26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0,30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4594773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3,0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10,3</a:t>
                      </a:r>
                      <a:endParaRPr lang="pl-PL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10,4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10,5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10,34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0,30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484650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4,0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10,1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10,4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10,24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0,30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546658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5,0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10,4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10,5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10,34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0,30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4437020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6,0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10,1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10,1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10,08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0,20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9347970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7,0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10,1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10,1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10,18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0,20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8521547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8,0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10,4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10,28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0,20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9198277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9,0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10,4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10,5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10,4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10,6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10,44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0,30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1925246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10,0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10,3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10,1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10,2</a:t>
                      </a:r>
                      <a:endParaRPr lang="pl-PL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effectLst/>
                        </a:rPr>
                        <a:t>10,20</a:t>
                      </a:r>
                      <a:endParaRPr lang="pl-PL" sz="16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effectLst/>
                        </a:rPr>
                        <a:t>0,20</a:t>
                      </a:r>
                      <a:endParaRPr lang="pl-PL" sz="16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4849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785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B2F2D-F4DF-F65F-55DC-D873882F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F34F76B6-B7BE-2BE0-F50F-FA0DEC20E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2BD7F160-1838-78B7-A3EE-1D3035220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500" y="1058332"/>
            <a:ext cx="10879567" cy="5520267"/>
          </a:xfrm>
        </p:spPr>
        <p:txBody>
          <a:bodyPr anchor="t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l-PL" sz="20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F580F44-BFAC-B4F3-3082-B8AE53F52729}"/>
              </a:ext>
            </a:extLst>
          </p:cNvPr>
          <p:cNvSpPr txBox="1"/>
          <p:nvPr/>
        </p:nvSpPr>
        <p:spPr>
          <a:xfrm>
            <a:off x="1496786" y="945188"/>
            <a:ext cx="8435066" cy="5397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  <a:buNone/>
            </a:pPr>
            <a:r>
              <a:rPr lang="en-US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X̄ Chart:</a:t>
            </a:r>
            <a:endParaRPr lang="pl-PL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X̄̄ = 10.268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R̄ = 0.26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A₂ = 0.577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Upper Control Limit (UCL) = X̄̄ + A₂ × R̄ = 10.268 + 0.577 × 0.26 = 10.418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Center Line (CL) = X̄̄ = 10.268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Lower Control Limit (LCL) = X̄̄ − A₂ × R̄ = 10.268 − 0.577 × 0.26 = 10.118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2400"/>
              </a:spcBef>
              <a:buNone/>
            </a:pPr>
            <a:r>
              <a:rPr lang="en-US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R Chart:</a:t>
            </a:r>
            <a:endParaRPr lang="pl-PL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R̄ = 0.26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D₄ = 2.115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D₃ = 0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Upper Control Limit (UCL) = D₄ × R̄ = 2.115 × 0.26 = 0.550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Center Line (CL) = R̄ = 0.26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Lower Control Limit (LCL) = D₃ × R̄ = 0 × 0.26 = 0.000</a:t>
            </a:r>
            <a:endParaRPr lang="pl-PL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348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00128-1695-407D-6413-BB88D908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B713D10C-05DC-E204-158F-8BAF265BE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58271"/>
            <a:ext cx="12192001" cy="6858001"/>
          </a:xfrm>
          <a:prstGeom prst="rect">
            <a:avLst/>
          </a:prstGeom>
        </p:spPr>
      </p:pic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75E4CBB4-ACEB-39CF-60B9-665A7BEDF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500" y="1058332"/>
            <a:ext cx="10879567" cy="5520267"/>
          </a:xfrm>
        </p:spPr>
        <p:txBody>
          <a:bodyPr anchor="t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l-PL" sz="20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330F3F-6BD7-8405-6B93-790FA23DF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049" y="910884"/>
            <a:ext cx="5486400" cy="27432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8AFB831-1996-8F1D-8E98-C65C56775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466" y="3744278"/>
            <a:ext cx="5486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27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909776-71A2-EDF1-75D7-0DC168DF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D47D9B-05C3-2B07-3FD6-650DEBF1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66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450</TotalTime>
  <Words>579</Words>
  <Application>Microsoft Office PowerPoint</Application>
  <PresentationFormat>Panoramiczny</PresentationFormat>
  <Paragraphs>204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Roboto</vt:lpstr>
      <vt:lpstr>Times New Roman</vt:lpstr>
      <vt:lpstr>Office Theme</vt:lpstr>
      <vt:lpstr>Quality management  THE SHEWHART CONTROL CARDS 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AstenGroup7</dc:creator>
  <cp:lastModifiedBy>Robert Ulewicz</cp:lastModifiedBy>
  <cp:revision>41</cp:revision>
  <dcterms:created xsi:type="dcterms:W3CDTF">2021-06-22T13:04:00Z</dcterms:created>
  <dcterms:modified xsi:type="dcterms:W3CDTF">2025-03-26T21:53:26Z</dcterms:modified>
</cp:coreProperties>
</file>